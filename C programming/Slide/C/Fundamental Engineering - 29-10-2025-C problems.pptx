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7.jpg" ContentType="image/unknown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0"/>
  </p:notesMasterIdLst>
  <p:sldIdLst>
    <p:sldId id="358" r:id="rId3"/>
    <p:sldId id="256" r:id="rId4"/>
    <p:sldId id="379" r:id="rId5"/>
    <p:sldId id="380" r:id="rId6"/>
    <p:sldId id="381" r:id="rId7"/>
    <p:sldId id="382" r:id="rId8"/>
    <p:sldId id="37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9E9B"/>
    <a:srgbClr val="70BAB9"/>
    <a:srgbClr val="6E706E"/>
    <a:srgbClr val="A1A1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38" d="100"/>
          <a:sy n="38" d="100"/>
        </p:scale>
        <p:origin x="56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1F789F-9CF7-4CFA-A55F-630D4E6BE042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153A6-258E-4B24-BEA8-1FF14C472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07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AE8C5-96B1-D133-DA8F-112BEDEF3F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A1C01B-66DD-71F0-86B8-D9C4FD5D4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E6D5E-72EE-2FDB-4075-C5A56EEF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1054-9DB7-4329-A1B9-EB4D1788572D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8957F-3586-4A3F-4253-E6305CC18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0D629-F83B-DAC6-33B8-D472BB4DA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6B8E1-6B46-498B-BCF2-1EEFF3246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019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6312B-264F-D738-60B4-D65DB964D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E1B7D-94F8-6A5D-8C1B-0DBF66654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08F96-7E4E-6E88-6DF2-17BAF60C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1054-9DB7-4329-A1B9-EB4D1788572D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64057-54D7-65A5-A220-879F68681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1C21A-F837-AD70-1CE2-DCBAB3B92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6B8E1-6B46-498B-BCF2-1EEFF3246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47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C03B8-C5DE-2FBF-722D-966B742E2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CD7BA-6624-063E-6EB6-4E018516E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50CE3-6AF9-1FD3-C12C-E56293231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1054-9DB7-4329-A1B9-EB4D1788572D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CD4E4-0215-78E0-C249-142B62017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B58E4-D9A1-6F20-760A-8CC785E17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6B8E1-6B46-498B-BCF2-1EEFF3246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85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C73C2-06EE-E8F9-AECD-A1112DBCD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AD006-759D-894F-7830-43E1CE7B75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A71B6B-BFA8-93D0-41BC-EBD6F3ACA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02A64-5DBA-3104-95E4-897C72D94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1054-9DB7-4329-A1B9-EB4D1788572D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BD08F-E1C9-6DF2-ACA8-15F8364DE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F6AE5-E1D5-0C01-0DF5-D3C9D1EED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6B8E1-6B46-498B-BCF2-1EEFF3246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092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170A9-74AE-D329-9459-D32CCA602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D59F9-681C-9FB9-34C3-EAF471D95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AC0994-5616-1044-B180-8BEF9D91B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5197BA-27B7-E51A-CAA7-061E28188B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199CE-6905-08A1-ED39-ABF9AD6FB2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096655-2126-FC3D-5B02-F0ACCDCFF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1054-9DB7-4329-A1B9-EB4D1788572D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574C28-C153-2D23-F105-A96AEF857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A1830B-5D5B-1221-BC10-C8D9B5DEE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6B8E1-6B46-498B-BCF2-1EEFF3246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646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3C25E-0116-71AB-9744-0F13EC6D2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A81AA4-AB70-742F-57B2-47857B70C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1054-9DB7-4329-A1B9-EB4D1788572D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68A67C-318D-7883-CEF6-4A504115B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C0FD40-5D3C-AF3B-F2D3-D607BF822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6B8E1-6B46-498B-BCF2-1EEFF3246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13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EEFEB7-0CE0-E98D-C03A-E4789D996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1054-9DB7-4329-A1B9-EB4D1788572D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D17293-7619-3DF6-CA1B-0A9605673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6224D-A2FE-17D1-452E-FEA71FCC9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6B8E1-6B46-498B-BCF2-1EEFF3246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730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7D38A-AB97-95D8-75E9-C02079447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AA00D-36DB-D73E-3CD8-A74E3AF97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396787-D958-DA77-17ED-1D872D112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840F92-CC2C-DB62-105E-D0CE67685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1054-9DB7-4329-A1B9-EB4D1788572D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D34C2-F187-022F-2443-DCD0C0F3A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62E0C-E337-057D-D9FB-5545C61E0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6B8E1-6B46-498B-BCF2-1EEFF3246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54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D6A6F-9653-E4FD-4174-62B37C0E1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6AD5CB-3869-C66F-DC42-029B221F9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A39552-ED66-4840-43F9-0DC3003C8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334A7-72A4-08C3-3800-1257DEB0A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1054-9DB7-4329-A1B9-EB4D1788572D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F9BCF-0609-46FF-6F42-8CF1C43F8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A1EB21-0FB6-61ED-B780-7FEAC96B4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6B8E1-6B46-498B-BCF2-1EEFF3246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559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88A30-DF26-29B7-98D1-574D29B93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D044EA-2CFB-C14E-5543-385F518017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406DA-D653-F261-2957-62C842BC2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1054-9DB7-4329-A1B9-EB4D1788572D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27450-6B35-CE41-1660-99E63AD1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B1402-3C52-1225-11AB-6A442DD75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6B8E1-6B46-498B-BCF2-1EEFF3246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972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85E3F1-2E95-9CC8-1873-04514E3F4A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F065CA-E4E9-5EBB-B679-5F530855D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81D04-7014-DD84-E507-E71EBC18A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1054-9DB7-4329-A1B9-EB4D1788572D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F3E7A-250B-7CA8-87D8-034FABBCA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49479-8C72-F79E-BAF6-C4DAF76B8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6B8E1-6B46-498B-BCF2-1EEFF3246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274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2166364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472" y="3913632"/>
            <a:ext cx="11506200" cy="4572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96470" y="6422854"/>
            <a:ext cx="6257201" cy="365125"/>
          </a:xfrm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932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1043" y="256040"/>
            <a:ext cx="9784080" cy="150876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1054" y="2011680"/>
            <a:ext cx="9784080" cy="4206240"/>
          </a:xfrm>
        </p:spPr>
        <p:txBody>
          <a:bodyPr/>
          <a:lstStyle>
            <a:lvl1pPr>
              <a:defRPr sz="3600"/>
            </a:lvl1pPr>
            <a:lvl2pPr>
              <a:defRPr sz="3200"/>
            </a:lvl2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088535" y="6422854"/>
            <a:ext cx="3000894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34437" y="6422854"/>
            <a:ext cx="5010686" cy="365125"/>
          </a:xfrm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243476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488" y="2167128"/>
            <a:ext cx="11247120" cy="173736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472" y="3913212"/>
            <a:ext cx="11503152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A320AFB-C3FA-40CA-B29F-0E6AE6EC81F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8493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201724" y="284176"/>
            <a:ext cx="9784080" cy="15087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4149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29196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/>
          <a:lstStyle/>
          <a:p>
            <a:fld id="{EA320AFB-C3FA-40CA-B29F-0E6AE6EC81F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8620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2257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2253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06479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06479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882253" y="6422854"/>
            <a:ext cx="3139483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906479" y="6422854"/>
            <a:ext cx="4698712" cy="365125"/>
          </a:xfrm>
          <a:prstGeom prst="rect">
            <a:avLst/>
          </a:prstGeom>
        </p:spPr>
        <p:txBody>
          <a:bodyPr/>
          <a:lstStyle/>
          <a:p>
            <a:fld id="{EA320AFB-C3FA-40CA-B29F-0E6AE6EC81F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624513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/>
          <a:lstStyle/>
          <a:p>
            <a:fld id="{EA320AFB-C3FA-40CA-B29F-0E6AE6EC81F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196443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/>
          <a:lstStyle/>
          <a:p>
            <a:fld id="{EA320AFB-C3FA-40CA-B29F-0E6AE6EC81F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13713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075124" y="284176"/>
            <a:ext cx="9772422" cy="15087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5131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47146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68675" y="6422854"/>
            <a:ext cx="5378871" cy="365125"/>
          </a:xfrm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075118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075124" y="256040"/>
            <a:ext cx="9717817" cy="15087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82013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92541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802462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/>
          <a:lstStyle/>
          <a:p>
            <a:fld id="{EA320AFB-C3FA-40CA-B29F-0E6AE6EC81F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749520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  <a:prstGeom prst="rect">
            <a:avLst/>
          </a:prstGeom>
        </p:spPr>
        <p:txBody>
          <a:bodyPr/>
          <a:lstStyle/>
          <a:p>
            <a:fld id="{EA320AFB-C3FA-40CA-B29F-0E6AE6EC81F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60376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3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B90675-C5D3-7703-9909-CE35CA240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20A32-7329-E7FE-FF94-FA7A55E86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54505-995A-3060-E376-6B65DF5BEB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221054-9DB7-4329-A1B9-EB4D1788572D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339DD-C210-3CEC-0606-0CA3EE9526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7037E-1B19-A67E-01DE-C69BB0DA9E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6B8E1-6B46-498B-BCF2-1EEFF3246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2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3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5124" y="284176"/>
            <a:ext cx="9609227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5124" y="2011680"/>
            <a:ext cx="9609227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4471" y="6422854"/>
            <a:ext cx="294726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68675" y="6422854"/>
            <a:ext cx="5215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nl-N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4B2CD3-D1AA-4D9C-A0EF-718B93C6E0B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5557" y="255555"/>
            <a:ext cx="1487025" cy="148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2198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eb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eb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eb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eb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ebp"/><Relationship Id="rId7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F41C9FF-55B3-E791-1461-09F92988580B}"/>
              </a:ext>
            </a:extLst>
          </p:cNvPr>
          <p:cNvSpPr/>
          <p:nvPr/>
        </p:nvSpPr>
        <p:spPr>
          <a:xfrm>
            <a:off x="1362221" y="4470008"/>
            <a:ext cx="9714748" cy="2170284"/>
          </a:xfrm>
          <a:prstGeom prst="roundRect">
            <a:avLst/>
          </a:prstGeom>
          <a:solidFill>
            <a:schemeClr val="accent1">
              <a:alpha val="70000"/>
            </a:schemeClr>
          </a:solidFill>
          <a:ln w="38100"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D96610C-6D15-4FE0-9B19-E9CCDC2A24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5816" y="4553883"/>
            <a:ext cx="9467557" cy="2002534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bg2"/>
                </a:solidFill>
              </a:rPr>
              <a:t>FUNDAMENTAL ENGINEERING</a:t>
            </a:r>
            <a:br>
              <a:rPr lang="en-US" sz="3200" dirty="0">
                <a:solidFill>
                  <a:schemeClr val="bg2"/>
                </a:solidFill>
              </a:rPr>
            </a:br>
            <a:r>
              <a:rPr lang="en-US" sz="3200" dirty="0">
                <a:solidFill>
                  <a:schemeClr val="bg2"/>
                </a:solidFill>
              </a:rPr>
              <a:t>Class – 01</a:t>
            </a:r>
            <a:br>
              <a:rPr lang="en-US" sz="3200" dirty="0">
                <a:solidFill>
                  <a:schemeClr val="bg2"/>
                </a:solidFill>
              </a:rPr>
            </a:br>
            <a:r>
              <a:rPr lang="en-US" sz="3200" dirty="0">
                <a:solidFill>
                  <a:schemeClr val="bg2"/>
                </a:solidFill>
              </a:rPr>
              <a:t>Introduction to programming in c/</a:t>
            </a:r>
            <a:r>
              <a:rPr lang="en-US" sz="3200" dirty="0" err="1">
                <a:solidFill>
                  <a:schemeClr val="bg2"/>
                </a:solidFill>
              </a:rPr>
              <a:t>c++</a:t>
            </a:r>
            <a:br>
              <a:rPr lang="en-US" sz="3200" dirty="0">
                <a:solidFill>
                  <a:schemeClr val="bg2"/>
                </a:solidFill>
              </a:rPr>
            </a:br>
            <a:r>
              <a:rPr lang="en-US" sz="3200" dirty="0">
                <a:solidFill>
                  <a:schemeClr val="bg2"/>
                </a:solidFill>
              </a:rPr>
              <a:t>October 2025</a:t>
            </a:r>
            <a:endParaRPr lang="nl-NL" sz="3200" dirty="0">
              <a:solidFill>
                <a:schemeClr val="bg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School of Engineering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6905" y="2273946"/>
            <a:ext cx="6868110" cy="1540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80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489E5A8-E422-8B54-BC8B-2EF521BD7849}"/>
              </a:ext>
            </a:extLst>
          </p:cNvPr>
          <p:cNvSpPr/>
          <p:nvPr/>
        </p:nvSpPr>
        <p:spPr>
          <a:xfrm>
            <a:off x="1597274" y="234042"/>
            <a:ext cx="10594726" cy="1110343"/>
          </a:xfrm>
          <a:prstGeom prst="rect">
            <a:avLst/>
          </a:prstGeom>
          <a:solidFill>
            <a:srgbClr val="A1A1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Problem #1</a:t>
            </a:r>
          </a:p>
        </p:txBody>
      </p:sp>
      <p:pic>
        <p:nvPicPr>
          <p:cNvPr id="7" name="Picture 6" descr="A blue and black logo&#10;&#10;Description automatically generated">
            <a:extLst>
              <a:ext uri="{FF2B5EF4-FFF2-40B4-BE49-F238E27FC236}">
                <a16:creationId xmlns:a16="http://schemas.microsoft.com/office/drawing/2014/main" id="{94160DAD-006B-5220-F75E-B0F4C8E576C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84" t="7595" r="22507" b="36747"/>
          <a:stretch/>
        </p:blipFill>
        <p:spPr bwMode="auto">
          <a:xfrm>
            <a:off x="188549" y="141514"/>
            <a:ext cx="1267211" cy="1295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59DD2C-E283-0E35-9D7E-BBF40926E2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2594" y="353784"/>
            <a:ext cx="870857" cy="8708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D50DBC-0AD8-F8AA-23F2-EE9F9F310DAA}"/>
              </a:ext>
            </a:extLst>
          </p:cNvPr>
          <p:cNvSpPr txBox="1"/>
          <p:nvPr/>
        </p:nvSpPr>
        <p:spPr>
          <a:xfrm>
            <a:off x="188549" y="1436914"/>
            <a:ext cx="1181490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scientific laboratory needs a program that allows temperatures recorded in Kelvin (K) to be converted to Fahrenheit (°F), so that the results can be understood by technicians who use the imperial system.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Write a C program that prompts the user for a temperature in Kelvin, performs the conversion, and displays the result in Fahrenheit to two decimal places. Requirements</a:t>
            </a: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program must: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Prompt the user for a temperature in Kelvin.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Calculate the equivalent temperature in Fahrenheit.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Display the result on the screen with two decimal places.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Include comments that explain each step of the code.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Verify that the entered Kelvin value is greater than or equal to 0 (there are no negative temperatures in Kelvin).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ED13FD-7835-77A0-0E26-74839E7AE8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7307" y="3429000"/>
            <a:ext cx="1796143" cy="17961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B28EE87-E975-33EB-7A5F-A6A86D818BAB}"/>
                  </a:ext>
                </a:extLst>
              </p:cNvPr>
              <p:cNvSpPr txBox="1"/>
              <p:nvPr/>
            </p:nvSpPr>
            <p:spPr>
              <a:xfrm>
                <a:off x="6033600" y="5925835"/>
                <a:ext cx="4173707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−273.15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+32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B28EE87-E975-33EB-7A5F-A6A86D818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600" y="5925835"/>
                <a:ext cx="4173707" cy="8094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9674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995F3-B391-8FDA-CA2B-893D394F9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1CD2692-BFDB-A8CB-7DEB-E47D6C847819}"/>
              </a:ext>
            </a:extLst>
          </p:cNvPr>
          <p:cNvSpPr/>
          <p:nvPr/>
        </p:nvSpPr>
        <p:spPr>
          <a:xfrm>
            <a:off x="1597274" y="234042"/>
            <a:ext cx="10594726" cy="1110343"/>
          </a:xfrm>
          <a:prstGeom prst="rect">
            <a:avLst/>
          </a:prstGeom>
          <a:solidFill>
            <a:srgbClr val="A1A1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Problem #2</a:t>
            </a:r>
          </a:p>
        </p:txBody>
      </p:sp>
      <p:pic>
        <p:nvPicPr>
          <p:cNvPr id="7" name="Picture 6" descr="A blue and black logo&#10;&#10;Description automatically generated">
            <a:extLst>
              <a:ext uri="{FF2B5EF4-FFF2-40B4-BE49-F238E27FC236}">
                <a16:creationId xmlns:a16="http://schemas.microsoft.com/office/drawing/2014/main" id="{2A8BBB58-757B-B619-E3B1-007CFE8B42F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84" t="7595" r="22507" b="36747"/>
          <a:stretch/>
        </p:blipFill>
        <p:spPr bwMode="auto">
          <a:xfrm>
            <a:off x="188549" y="141514"/>
            <a:ext cx="1267211" cy="1295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2F4F4C-A0E2-9BB5-2D04-75146382C0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2594" y="353784"/>
            <a:ext cx="870857" cy="8708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78732C-36D6-5CD9-44E9-030B31D1E7E0}"/>
              </a:ext>
            </a:extLst>
          </p:cNvPr>
          <p:cNvSpPr txBox="1"/>
          <p:nvPr/>
        </p:nvSpPr>
        <p:spPr>
          <a:xfrm>
            <a:off x="188549" y="1436914"/>
            <a:ext cx="1181490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physics student is analyzing the motion of an object launched vertically upward from the ground with a certain initial velocity. He wants to know the maximum height the object will reach before it begins to fall again.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Write a C program that asks for the initial velocity (m/s), calculates the maximum height (m) and displays the result on the screen.</a:t>
            </a: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program must: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Prompt the user for the initial velocity (m/s).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Calculate the maximum height ℎ (m)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Display the result on the screen with two decimal places.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 a constant for gravity: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 float g = 9.81;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Verify that the initial velocity is greater than or equal to 0.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Include explanatory comments for the code.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0DA3E8-401D-B78A-DD45-36D483B68599}"/>
                  </a:ext>
                </a:extLst>
              </p:cNvPr>
              <p:cNvSpPr txBox="1"/>
              <p:nvPr/>
            </p:nvSpPr>
            <p:spPr>
              <a:xfrm>
                <a:off x="9092486" y="5860496"/>
                <a:ext cx="1178464" cy="9401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0DA3E8-401D-B78A-DD45-36D483B68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2486" y="5860496"/>
                <a:ext cx="1178464" cy="9401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B03F3E5-F6F6-116D-FF30-E766330D7F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4907" y="3642779"/>
            <a:ext cx="1948543" cy="194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223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245E0-ADDB-2398-7661-2604D0F69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8B03F2D-2886-042D-F14C-7F476CD0094D}"/>
              </a:ext>
            </a:extLst>
          </p:cNvPr>
          <p:cNvSpPr/>
          <p:nvPr/>
        </p:nvSpPr>
        <p:spPr>
          <a:xfrm>
            <a:off x="1597274" y="234042"/>
            <a:ext cx="10594726" cy="1110343"/>
          </a:xfrm>
          <a:prstGeom prst="rect">
            <a:avLst/>
          </a:prstGeom>
          <a:solidFill>
            <a:srgbClr val="A1A1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Problem #3</a:t>
            </a:r>
          </a:p>
        </p:txBody>
      </p:sp>
      <p:pic>
        <p:nvPicPr>
          <p:cNvPr id="7" name="Picture 6" descr="A blue and black logo&#10;&#10;Description automatically generated">
            <a:extLst>
              <a:ext uri="{FF2B5EF4-FFF2-40B4-BE49-F238E27FC236}">
                <a16:creationId xmlns:a16="http://schemas.microsoft.com/office/drawing/2014/main" id="{A28C981F-3C8F-4A93-6FD6-8495B79997B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84" t="7595" r="22507" b="36747"/>
          <a:stretch/>
        </p:blipFill>
        <p:spPr bwMode="auto">
          <a:xfrm>
            <a:off x="188549" y="141514"/>
            <a:ext cx="1267211" cy="1295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9BEC78-5041-375C-F909-C1D0989AD8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2594" y="353784"/>
            <a:ext cx="870857" cy="8708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D6F787-E456-7E6E-FBFD-A4626DAF7A9C}"/>
              </a:ext>
            </a:extLst>
          </p:cNvPr>
          <p:cNvSpPr txBox="1"/>
          <p:nvPr/>
        </p:nvSpPr>
        <p:spPr>
          <a:xfrm>
            <a:off x="188549" y="1436914"/>
            <a:ext cx="1181490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chemist wishes to calculate the total molar mass (g/mol) of an organic substance composed solely of the elements Carbon (C), Hydrogen (H), Oxygen (O), and Nitrogen (N).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 a C program that asks the user for the number of atoms of each element in the molecule and then calculates the total molar mass using the known atomic masses.</a:t>
            </a: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422F1D2-2038-94C0-A50A-85BEB3608186}"/>
                  </a:ext>
                </a:extLst>
              </p:cNvPr>
              <p:cNvSpPr txBox="1"/>
              <p:nvPr/>
            </p:nvSpPr>
            <p:spPr>
              <a:xfrm>
                <a:off x="1718882" y="6121554"/>
                <a:ext cx="10098277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3600"/>
                        <m:t>(</m:t>
                      </m:r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3600"/>
                        <m:t>​×</m:t>
                      </m:r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𝑀𝑊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3600"/>
                        <m:t>)+(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3600"/>
                        <m:t>​×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𝑀𝑊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3600"/>
                        <m:t>)+(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3600"/>
                        <m:t>​×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𝑀𝑊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3600"/>
                        <m:t>)+(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3600"/>
                        <m:t>​×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𝑀𝑊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3600"/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422F1D2-2038-94C0-A50A-85BEB3608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8882" y="6121554"/>
                <a:ext cx="10098277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D85F1B-81F3-51B7-E443-B28A9D38A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725181"/>
              </p:ext>
            </p:extLst>
          </p:nvPr>
        </p:nvGraphicFramePr>
        <p:xfrm>
          <a:off x="333828" y="4006296"/>
          <a:ext cx="621937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3686">
                  <a:extLst>
                    <a:ext uri="{9D8B030D-6E8A-4147-A177-3AD203B41FA5}">
                      <a16:colId xmlns:a16="http://schemas.microsoft.com/office/drawing/2014/main" val="1410876557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12795103"/>
                    </a:ext>
                  </a:extLst>
                </a:gridCol>
                <a:gridCol w="2144486">
                  <a:extLst>
                    <a:ext uri="{9D8B030D-6E8A-4147-A177-3AD203B41FA5}">
                      <a16:colId xmlns:a16="http://schemas.microsoft.com/office/drawing/2014/main" val="17372785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MW (g/mol)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151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Carbon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042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Hydrogen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953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Oxygen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932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Nitrogen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03934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AE3FB48-07AD-71BB-08DE-3A2A4F63E3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1014" y="3600957"/>
            <a:ext cx="4322436" cy="243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114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4770B-1FA3-95AF-BFC9-2982F7560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6DD33D6-FC8E-B38C-7F6D-9934D1E1052D}"/>
              </a:ext>
            </a:extLst>
          </p:cNvPr>
          <p:cNvSpPr/>
          <p:nvPr/>
        </p:nvSpPr>
        <p:spPr>
          <a:xfrm>
            <a:off x="1597274" y="234042"/>
            <a:ext cx="10594726" cy="1110343"/>
          </a:xfrm>
          <a:prstGeom prst="rect">
            <a:avLst/>
          </a:prstGeom>
          <a:solidFill>
            <a:srgbClr val="A1A1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Problem #4</a:t>
            </a:r>
          </a:p>
        </p:txBody>
      </p:sp>
      <p:pic>
        <p:nvPicPr>
          <p:cNvPr id="7" name="Picture 6" descr="A blue and black logo&#10;&#10;Description automatically generated">
            <a:extLst>
              <a:ext uri="{FF2B5EF4-FFF2-40B4-BE49-F238E27FC236}">
                <a16:creationId xmlns:a16="http://schemas.microsoft.com/office/drawing/2014/main" id="{0FDE902D-C668-9223-F270-773A9E5882F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84" t="7595" r="22507" b="36747"/>
          <a:stretch/>
        </p:blipFill>
        <p:spPr bwMode="auto">
          <a:xfrm>
            <a:off x="188549" y="141514"/>
            <a:ext cx="1267211" cy="1295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5C35F0-79FD-9CB3-C2DE-69522F5616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2594" y="353784"/>
            <a:ext cx="870857" cy="8708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7F36D3-C412-A6F1-0150-387C04EF8A23}"/>
              </a:ext>
            </a:extLst>
          </p:cNvPr>
          <p:cNvSpPr txBox="1"/>
          <p:nvPr/>
        </p:nvSpPr>
        <p:spPr>
          <a:xfrm>
            <a:off x="188549" y="1436914"/>
            <a:ext cx="118149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Write a menu-driven program that requests a person's weight and prints their weight on any planet in the solar system to the screen. Use the following equivalents as references.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5BA72DF-18AF-0E91-15B1-F83FCE878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109623"/>
              </p:ext>
            </p:extLst>
          </p:nvPr>
        </p:nvGraphicFramePr>
        <p:xfrm>
          <a:off x="333828" y="2726470"/>
          <a:ext cx="4074886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3686">
                  <a:extLst>
                    <a:ext uri="{9D8B030D-6E8A-4147-A177-3AD203B41FA5}">
                      <a16:colId xmlns:a16="http://schemas.microsoft.com/office/drawing/2014/main" val="1410876557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12795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equivalent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151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Mercury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042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Venus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953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Earth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932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03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Jupiter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480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380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Uranus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092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Neptune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37480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E22D20A-3323-F5C0-C836-F1F242FC77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0444" y="3981230"/>
            <a:ext cx="3702756" cy="20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38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8B215-D715-FCAD-04AF-DDB494F62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A15768-BFC5-B951-F984-A96E94D0FA3C}"/>
              </a:ext>
            </a:extLst>
          </p:cNvPr>
          <p:cNvSpPr/>
          <p:nvPr/>
        </p:nvSpPr>
        <p:spPr>
          <a:xfrm>
            <a:off x="1597274" y="234042"/>
            <a:ext cx="10594726" cy="1110343"/>
          </a:xfrm>
          <a:prstGeom prst="rect">
            <a:avLst/>
          </a:prstGeom>
          <a:solidFill>
            <a:srgbClr val="A1A1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Problem #5</a:t>
            </a:r>
          </a:p>
        </p:txBody>
      </p:sp>
      <p:pic>
        <p:nvPicPr>
          <p:cNvPr id="7" name="Picture 6" descr="A blue and black logo&#10;&#10;Description automatically generated">
            <a:extLst>
              <a:ext uri="{FF2B5EF4-FFF2-40B4-BE49-F238E27FC236}">
                <a16:creationId xmlns:a16="http://schemas.microsoft.com/office/drawing/2014/main" id="{50EA233B-362D-F059-3E64-544C8A0C9CD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84" t="7595" r="22507" b="36747"/>
          <a:stretch/>
        </p:blipFill>
        <p:spPr bwMode="auto">
          <a:xfrm>
            <a:off x="188549" y="141514"/>
            <a:ext cx="1267211" cy="1295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0B1BD3-CBFD-0FA5-C909-DAFCE8D6DA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2594" y="353784"/>
            <a:ext cx="870857" cy="8708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483AE0-518D-CA4C-FB6C-795F2843F183}"/>
              </a:ext>
            </a:extLst>
          </p:cNvPr>
          <p:cNvSpPr txBox="1"/>
          <p:nvPr/>
        </p:nvSpPr>
        <p:spPr>
          <a:xfrm>
            <a:off x="188549" y="1436914"/>
            <a:ext cx="118149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bank offers compound interest on savings accounts.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You are asked to write a program that calculates the final balance after a certain number of years, given:</a:t>
            </a: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B017CC7-F380-7467-FD94-D39443473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415" y="2639785"/>
            <a:ext cx="819345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 amount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deposited (principal).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annual interest rate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(as a percentage).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times per year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interest is compounded.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years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money is kept in the bank.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The earning cannot pass 200%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658709-0649-7777-2B85-62362FCA7358}"/>
              </a:ext>
            </a:extLst>
          </p:cNvPr>
          <p:cNvSpPr txBox="1"/>
          <p:nvPr/>
        </p:nvSpPr>
        <p:spPr>
          <a:xfrm>
            <a:off x="222415" y="561500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Compound Interest formula: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F00C63-BB05-2BD8-EE32-DE66B9E27B31}"/>
                  </a:ext>
                </a:extLst>
              </p:cNvPr>
              <p:cNvSpPr txBox="1"/>
              <p:nvPr/>
            </p:nvSpPr>
            <p:spPr>
              <a:xfrm>
                <a:off x="3759199" y="5544501"/>
                <a:ext cx="1739707" cy="541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F00C63-BB05-2BD8-EE32-DE66B9E27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9199" y="5544501"/>
                <a:ext cx="1739707" cy="541110"/>
              </a:xfrm>
              <a:prstGeom prst="rect">
                <a:avLst/>
              </a:prstGeom>
              <a:blipFill>
                <a:blip r:embed="rId4"/>
                <a:stretch>
                  <a:fillRect b="-1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98B74EE-07C2-3B2E-3188-5A6B8842D913}"/>
                  </a:ext>
                </a:extLst>
              </p:cNvPr>
              <p:cNvSpPr txBox="1"/>
              <p:nvPr/>
            </p:nvSpPr>
            <p:spPr>
              <a:xfrm>
                <a:off x="5769154" y="4611231"/>
                <a:ext cx="6096000" cy="2246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= Final amount (including interest)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= Principal (initial amount)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= Annual interest rate (in decimal form)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= Number of times interest is compounded per year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= Number of years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98B74EE-07C2-3B2E-3188-5A6B8842D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9154" y="4611231"/>
                <a:ext cx="6096000" cy="2246769"/>
              </a:xfrm>
              <a:prstGeom prst="rect">
                <a:avLst/>
              </a:prstGeom>
              <a:blipFill>
                <a:blip r:embed="rId5"/>
                <a:stretch>
                  <a:fillRect l="-1000" t="-1084" b="-4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A3D6A5AC-85FA-BBD5-8E21-97345ABD1024}"/>
              </a:ext>
            </a:extLst>
          </p:cNvPr>
          <p:cNvSpPr txBox="1"/>
          <p:nvPr/>
        </p:nvSpPr>
        <p:spPr>
          <a:xfrm>
            <a:off x="987246" y="6285404"/>
            <a:ext cx="6096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Total interest earned:</a:t>
            </a:r>
          </a:p>
          <a:p>
            <a:pPr>
              <a:buNone/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F28D85-CA0A-3C33-3A2D-1DAA209D6F2A}"/>
                  </a:ext>
                </a:extLst>
              </p:cNvPr>
              <p:cNvSpPr txBox="1"/>
              <p:nvPr/>
            </p:nvSpPr>
            <p:spPr>
              <a:xfrm>
                <a:off x="3759199" y="6346959"/>
                <a:ext cx="10218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F28D85-CA0A-3C33-3A2D-1DAA209D6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9199" y="6346959"/>
                <a:ext cx="1021883" cy="276999"/>
              </a:xfrm>
              <a:prstGeom prst="rect">
                <a:avLst/>
              </a:prstGeom>
              <a:blipFill>
                <a:blip r:embed="rId6"/>
                <a:stretch>
                  <a:fillRect l="-5389" r="-4790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906F4349-7F69-55E2-98BA-CA854E4738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154" y="2326706"/>
            <a:ext cx="2223915" cy="228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46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3419E-8802-FA3B-25B9-784C15E5B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3389DC7-2D9F-6D91-8554-12C712893EB7}"/>
              </a:ext>
            </a:extLst>
          </p:cNvPr>
          <p:cNvSpPr/>
          <p:nvPr/>
        </p:nvSpPr>
        <p:spPr>
          <a:xfrm>
            <a:off x="0" y="234042"/>
            <a:ext cx="12192000" cy="171149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Picture 6" descr="A blue and black logo&#10;&#10;Description automatically generated">
            <a:extLst>
              <a:ext uri="{FF2B5EF4-FFF2-40B4-BE49-F238E27FC236}">
                <a16:creationId xmlns:a16="http://schemas.microsoft.com/office/drawing/2014/main" id="{3971AEB2-7EB5-6854-3A43-A350E7D525B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84" t="7595" r="22507" b="36747"/>
          <a:stretch/>
        </p:blipFill>
        <p:spPr bwMode="auto">
          <a:xfrm>
            <a:off x="169094" y="442087"/>
            <a:ext cx="1267211" cy="1295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7045547-6144-D00D-4922-1EB704F21D9E}"/>
              </a:ext>
            </a:extLst>
          </p:cNvPr>
          <p:cNvSpPr/>
          <p:nvPr/>
        </p:nvSpPr>
        <p:spPr>
          <a:xfrm>
            <a:off x="0" y="2390339"/>
            <a:ext cx="12192000" cy="2522129"/>
          </a:xfrm>
          <a:prstGeom prst="rect">
            <a:avLst/>
          </a:prstGeom>
          <a:solidFill>
            <a:srgbClr val="029E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7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Questions?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E67A47-BCF8-4486-2333-569FF8396633}"/>
              </a:ext>
            </a:extLst>
          </p:cNvPr>
          <p:cNvSpPr/>
          <p:nvPr/>
        </p:nvSpPr>
        <p:spPr>
          <a:xfrm>
            <a:off x="0" y="4912468"/>
            <a:ext cx="12192000" cy="593854"/>
          </a:xfrm>
          <a:prstGeom prst="rect">
            <a:avLst/>
          </a:prstGeom>
          <a:solidFill>
            <a:srgbClr val="6E70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Thank you for your attention!!!</a:t>
            </a:r>
          </a:p>
        </p:txBody>
      </p:sp>
    </p:spTree>
    <p:extLst>
      <p:ext uri="{BB962C8B-B14F-4D97-AF65-F5344CB8AC3E}">
        <p14:creationId xmlns:p14="http://schemas.microsoft.com/office/powerpoint/2010/main" val="2952182299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uc Exercitum">
  <a:themeElements>
    <a:clrScheme name="Custom 11">
      <a:dk1>
        <a:srgbClr val="D8D8D8"/>
      </a:dk1>
      <a:lt1>
        <a:srgbClr val="D8D8D8"/>
      </a:lt1>
      <a:dk2>
        <a:srgbClr val="009E9B"/>
      </a:dk2>
      <a:lt2>
        <a:srgbClr val="FFFFFF"/>
      </a:lt2>
      <a:accent1>
        <a:srgbClr val="707070"/>
      </a:accent1>
      <a:accent2>
        <a:srgbClr val="70BAB9"/>
      </a:accent2>
      <a:accent3>
        <a:srgbClr val="FFFFFF"/>
      </a:accent3>
      <a:accent4>
        <a:srgbClr val="E9E9E9"/>
      </a:accent4>
      <a:accent5>
        <a:srgbClr val="009E9B"/>
      </a:accent5>
      <a:accent6>
        <a:srgbClr val="C9CFBF"/>
      </a:accent6>
      <a:hlink>
        <a:srgbClr val="000000"/>
      </a:hlink>
      <a:folHlink>
        <a:srgbClr val="A1A1A1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c Exercitum" id="{16D7E326-7CF9-4AEC-9173-5DAA0CEDAC02}" vid="{858C50D0-BFEF-4DCE-AAC8-595249A2435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2507</TotalTime>
  <Words>618</Words>
  <Application>Microsoft Office PowerPoint</Application>
  <PresentationFormat>Widescreen</PresentationFormat>
  <Paragraphs>84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Corbel</vt:lpstr>
      <vt:lpstr>Verdana</vt:lpstr>
      <vt:lpstr>Wingdings</vt:lpstr>
      <vt:lpstr>Office Theme</vt:lpstr>
      <vt:lpstr>Duc Exercitum</vt:lpstr>
      <vt:lpstr>FUNDAMENTAL ENGINEERING Class – 01 Introduction to programming in c/c++ October 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Rojas Luis</dc:creator>
  <cp:lastModifiedBy>Rojas Luis</cp:lastModifiedBy>
  <cp:revision>36</cp:revision>
  <dcterms:created xsi:type="dcterms:W3CDTF">2025-10-06T12:39:29Z</dcterms:created>
  <dcterms:modified xsi:type="dcterms:W3CDTF">2025-10-23T14:42:07Z</dcterms:modified>
</cp:coreProperties>
</file>